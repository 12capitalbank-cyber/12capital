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_term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5943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100">
                <a:solidFill>
                  <a:srgbClr val="D4AF37"/>
                </a:solidFill>
              </a:defRPr>
            </a:pPr>
            <a:r>
              <a:t>12 GROUP HOLDING • COMPLIANCE DOSSIER</a:t>
            </a:r>
          </a:p>
          <a:p>
            <a:pPr>
              <a:spcAft>
                <a:spcPts val="1000"/>
              </a:spcAft>
              <a:defRPr b="1" sz="4000">
                <a:solidFill>
                  <a:srgbClr val="FFFFFF"/>
                </a:solidFill>
              </a:defRPr>
            </a:pPr>
            <a:r>
              <a:t>12 CAPITAL INC.</a:t>
            </a:r>
          </a:p>
          <a:p>
            <a:pPr>
              <a:spcAft>
                <a:spcPts val="2400"/>
              </a:spcAft>
              <a:defRPr sz="1400">
                <a:solidFill>
                  <a:srgbClr val="94A3B8"/>
                </a:solidFill>
              </a:defRPr>
            </a:pPr>
            <a:r>
              <a:t>Global Multi-Asset Liquidity &amp; Private Wealth Infrastructure</a:t>
            </a:r>
            <a:br/>
            <a:r>
              <a:t>Institutional Onboarding Presentation for Banking &amp; Risk Committee Review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Jurisdiction: Saint Lucia (IBC Act, Cap. 12.14)</a:t>
            </a:r>
            <a:br/>
            <a:r>
              <a:t>• Execution Model: 100% STP / Non-Dealing Desk</a:t>
            </a:r>
            <a:br/>
            <a:r>
              <a:t>• Operational Partners: Luramic (LP) &amp; Kenmore Design (CRM)</a:t>
            </a:r>
            <a:br/>
            <a:r>
              <a:t>• Live Platform: https://12capital.vercel.app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Calibri"/>
              </a:defRPr>
            </a:pPr>
            <a:r>
              <a:t>01.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Active Operating Reality &amp; Institutional Mandate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02 / 12</a:t>
            </a:r>
          </a:p>
        </p:txBody>
      </p:sp>
      <p:pic>
        <p:nvPicPr>
          <p:cNvPr id="6" name="Picture 5" descr="hero_term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937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852160" cy="237744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Active Brokerage Operation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Live Market Facilitation: Real active client accounts already trading live currency &amp; CFD markets.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Corporate Domicile: International Business Company (IBC) in Saint Lucia with Caribbean Legal Opinion.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Financial Engine of 12 Group: Backed by holding operating assets in clean energy and technology.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Live Digital Infrastructure: Vercel production deployment active at https://12capital.vercel.app.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852160" cy="237744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Account Purpose &amp; Strict Segregation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Corporate Working Capital &amp; Shareholder Equity Injections from verified UBOs.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Operational OPEX: Kenmore Design CRM, Luramic bridge fees, Vercel/Supabase cloud hosting.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Liquidity Collateral: Transferring operational buffer to Luramic institutional clearing.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100% Segregated: Zero commingling with client margin depositories or group projects.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Calibri"/>
              </a:defRPr>
            </a:pPr>
            <a:r>
              <a:t>02. CORPORATE BACKING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12 Group Ecosystem: Real Operating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03 / 12</a:t>
            </a:r>
          </a:p>
        </p:txBody>
      </p:sp>
      <p:pic>
        <p:nvPicPr>
          <p:cNvPr id="6" name="Picture 5" descr="energy_sol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937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852160" cy="237744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Detronic Energia (Photovoltaic Energy)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Proven Real Assets: Operating solar energy generation with real commercial revenues in Brazil.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Long-Term Infrastructure: Asset-backed stability providing corporate depth to 12 Group.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Strategic Governance: Autonomous operating company with independent P&amp;L and balance sheet.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Sustainable Value Creation: Business as Mission (BAM) model uniting profits with real impact.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852160" cy="237744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FactorOne / FactorHub (Technology Track)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FinTech Development: Software backbone developed by Fayson Santos.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Dual-Track Regulatory Segregation: FactorOne leads the domestic Brazilian BaaS path (BACEN).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Zero Regulatory Contamination: 12 Capital (St. Lucia) and FactorOne operate as separate legal entities.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Compliance Proof: 12 Capital does NOT solicit Brazilian residents or violate CVM boundaries.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Calibri"/>
              </a:defRPr>
            </a:pPr>
            <a:r>
              <a:t>03. PRODUCTS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Multi-Asset Offering &amp; 12 Intelligence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04 / 12</a:t>
            </a:r>
          </a:p>
        </p:txBody>
      </p:sp>
      <p:pic>
        <p:nvPicPr>
          <p:cNvPr id="6" name="Picture 5" descr="multi_asset_a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937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852160" cy="237744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Global Currency &amp; Multi-Asset Execution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Câmbio Global / FX: 55+ Major, Minor &amp; Exotic pairs with raw ECN spreads from 0.0 pips.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Precious Metals &amp; Energy: Gold (XAU/USD), Silver, Crude Oil, Natural Gas via STP.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Global Indices: US30, S&amp;P 500, Nasdaq 100, DAX 40 direct liquidity routing.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De-Stigmatizing Forex: Repositioned as institutional multi-asset wealth connectivity.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852160" cy="237744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12 Intelligence Terminal (AI Analytics)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Automated DRE Upload: Clients upload company balance sheets for instant solvency scoring.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Institutional Health Metrics: Real-time EBITDA margin, debt coverage &amp; Altman Z-score.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Macroeconomic Radar: Central bank yield curves, Treasury rates &amp; DXY dollar index.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High Retention Engine: Combines deep financial analytics with trading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Calibri"/>
              </a:defRPr>
            </a:pPr>
            <a:r>
              <a:t>04.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100% STP Execution &amp; Global Network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05 / 12</a:t>
            </a:r>
          </a:p>
        </p:txBody>
      </p:sp>
      <p:pic>
        <p:nvPicPr>
          <p:cNvPr id="6" name="Picture 5" descr="global_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937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852160" cy="237744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Straight-Through Processing (Luramic)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100% Non-Dealing Desk (NDD): Zero market making, zero proprietary trading desks.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Back-to-Back Routing: Every client order is instantly mirrored into Luramic liquidity pool.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Elimination of Market Risk: Currency swings affect liquidity provider, not broker balance sheet.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Aligned Incentives: Revenues derived exclusively from transparent volume fees and spreads.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852160" cy="237744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Ultra-Low Latency Highways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Data Centers: High-speed cross-connects in London Equinix LD4 and New York NY4.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Sub-Millisecond Execution: Orders filled at average latency under 1ms with minimal slippage.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Daily Reconciliation: Automated end-of-day clearing statements from Luramic.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Negative Balance Protection: Algorithmic stop-out limits preventing client debt.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Calibri"/>
              </a:defRPr>
            </a:pPr>
            <a:r>
              <a:t>05.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Offshore Wealth Structuring &amp; Board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06 / 12</a:t>
            </a:r>
          </a:p>
        </p:txBody>
      </p:sp>
      <p:pic>
        <p:nvPicPr>
          <p:cNvPr id="6" name="Picture 5" descr="board_weal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937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852160" cy="237744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Executive Leadership Profiles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Cláudio (Chief Executive Officer): Leads corporate strategy, banking expansion &amp; executive direction.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André (Founding Partner &amp; Board Director): Fiduciary architecture, group capital allocation &amp; governance.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Fayson Santos (Head of Technology &amp; Operations): Systems deployment, Kenmore CRM &amp; Luramic bridge.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Certified MLRO: Dedicated compliance officer overseeing AML surveillance and FIU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852160" cy="237744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International Wealth Structuring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High-Net-Worth Advisory: Tailored corporate structures under Saint Lucia IBC common law.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Capital Dollarization: Multi-currency treasury allocation (USD, EUR, GBP) for family offices.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Strict KYC/AML Framing: Described strictly as asset protection &amp; diversification, never as money movement.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Third-Party Fund Distribution: Distributing verified UCITS and international investment funds.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Calibri"/>
              </a:defRPr>
            </a:pPr>
            <a:r>
              <a:t>06.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Proven Operational &amp; Software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07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Luramic (Prime Liquidity Provider)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Role: Prime counterparty clearing broker and institutional liquidity aggregator.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Depth of Liquidity: Aggregating Tier-1 bank and non-bank pricing engines.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Instruments: FX Majors/Minors, Gold, Silver, Oil, Global Equity Indices, Crypto CFDs.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Audit &amp; Reporting: Automated daily settlement journals, mark-to-market balances, and equity reports.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Safety: Regulated institutional counterparty with multi-million dollar credit facilities.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Kenmore Design (Enterprise CRM &amp; PSP)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Role: Core Broker CRM, Trader's Room (Client Cabinet), KYC Pipeline &amp; PSP Hub.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Industry Standard: Renowned worldwide for turnkey institutional broker software.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Client Cabinet: Multi-factor authenticated self-service portal for deposits and verification.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PSP Gateway Hub: Connecting card acquirers, SEPA/SWIFT wire channels, and digital rails.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Compliance Engine: Real-time user logs, IP tracking, and suspicious activity red flags.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Calibri"/>
              </a:defRPr>
            </a:pPr>
            <a:r>
              <a:t>07.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Rigorous AML / CFT &amp; KYC Compliance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08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3-Tier Verification (KYC)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Tier 1 (Basic): Government-issued Passport/ID + 3D facial biometrics liveness test.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Tier 2 (Full): Proof of residential address (utility bill/bank statement &lt; 90 days).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Tier 3 (Enhanced): Source of Wealth &amp; Source of Funds documentation for accounts &gt; $50k.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Optical Character Recognition (OCR) ensures automated document tampering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291840" cy="493776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Sanctions &amp; PEP Screening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Dynamic Automated Screening: Every account screened against OFAC, UN, EU, UK sanctions.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PEP Registries: Global Politically Exposed Persons and adverse media checks.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Immediate Escalation: Instant account freeze upon match, escalated directly to MLRO.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Re-screening: Continuous daily watchlist re-verification across entire active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291840" cy="493776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Anti-Third-Party Controls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Strict 1st-Party Rule: Sender name must match verified account name exactly.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Zero Third-Party Payments: Intermediary and nominee deposits are systematically blocked.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Return-to-Source: Withdrawals routed strictly back to originating verified deposit channel.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Prohibited: US Persons, FATF blacklist nations (North Korea, Iran), St. Lucia residents.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Calibri"/>
              </a:defRPr>
            </a:pPr>
            <a:r>
              <a:t>08. RISK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Capital Protection &amp; Exposure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09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Algorithmic Capital Preservation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Margin Call Alert (100%): Automated platform warning when account equity reaches 100% margin.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Automated Stop-Out (50%): Instant liquidation of losing positions to prevent clearing deficit.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Negative Balance Protection (NBP): Algorithmic guarantee ensuring clients never owe money.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Risk Reserve Buffer: Internal corporate reserve funded to absorb rare black-swan market gaps.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Zero Inventory Risk: STP pass-through eliminates overnight market exposure for 12 Capital.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93776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Treasury Segregation &amp; Disaster Recovery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Full Segregation: Client margin deposits isolated completely from corporate operational funds.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Dual-Signatory Controls: High-value corporate disbursements require dual executive sign-off.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Cybersecurity: TLS 1.3 encryption, AES-256 at rest, mandatory 2FA, and SOC 2 cloud host.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Business Continuity (BCP): Continuous database snapshot replication with RTO under 30 minutes.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Independent Annual Audit: Financial records prepared for annual Caribbean audit.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Calibri"/>
              </a:defRPr>
            </a:pPr>
            <a:r>
              <a:t>09. FINANCIAL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Three-Year Financial Projections &amp; Solvency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10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Year 1 (Baseline)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Monthly Volume: $5,000,000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Annual Volume: $60,000,000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Active Accounts: 250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Brokerage Revenue: $84,000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Wealth &amp; Advisory Fees: $101,000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Total Gross Revenue: $185,000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Total OPEX: ($131,100)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Operating Profit: $17,900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Operational Break-Even: Month 5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Retained Buffer: $15,400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291840" cy="493776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Year 2 (+100% Growth)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Monthly Volume: $10,000,000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Annual Volume: $120,000,000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Active Accounts: 650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Brokerage Revenue: $168,000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Wealth &amp; Advisory Fees: $233,000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Total Gross Revenue: $401,000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Total OPEX: ($224,900)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Operating Profit: $109,100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Operating Margin: 27.2%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Cumulative Buffer: $120,000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291840" cy="493776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Year 3 (+100% Scale)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Monthly Volume: $20,000,000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Annual Volume: $240,000,000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Active Accounts: 1,500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Brokerage Revenue: $336,000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Wealth &amp; Advisory Fees: $515,000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Total Gross Revenue: $851,000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Total OPEX: ($377,000)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Operating Profit: $344,000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Operating Margin: 40.4%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Cumulative Buffer: $455,500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Calibri"/>
              </a:defRPr>
            </a:pPr>
            <a:r>
              <a:t>10.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Strategic Roadmap: Evolution to International Digital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11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93776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5-Stage Banking Transformation Blueprint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Phase 1 (Months 1–6): Operational Foundation &amp; Bank Account Setup — $5M/mo volume; Luramic/Kenmore live; Corporate operational account active.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Phase 2 (Months 6–18): Brokerage Scale &amp; Capital Accumulation — $10M/mo volume; 12 Intelligence Terminal live; $350k+ retained in capitalization escrow.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Phase 3 (Months 18–24): Regulatory Advisory &amp; FSRA Filing — Retain Caribbean banking counsel; submit formal Class B/A application to Saint Lucia FSRA.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Phase 4 (Months 24–30): Statutory Capitalization &amp; Fit-and-Proper Vetting — Deposit $1.0M - $2.5M paid-up capital backed by 12 Group equity and earnings.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Phase 5 (Months 30–36): Core Banking &amp; SWIFT Direct Connectivity — Deploy Mambu/Skale cloud core; obtain SWIFT BIC; launch 12 International Digital Bank.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LONG-TERM SYNERGY: Directly financing and clearing cross-border settlements for group entities (Detronic Energia, 12 Systems) with full regulatory ring-fencing.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4AF37"/>
                </a:solidFill>
                <a:latin typeface="Calibri"/>
              </a:defRPr>
            </a:pPr>
            <a: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Corporate Attestation &amp; Compliance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12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937760"/>
          </a:xfrm>
          <a:prstGeom prst="roundRect">
            <a:avLst/>
          </a:prstGeom>
          <a:solidFill>
            <a:srgbClr val="0E1A2E"/>
          </a:solidFill>
          <a:ln w="1270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spcAft>
                <a:spcPts val="800"/>
              </a:spcAft>
              <a:defRPr sz="1350" b="1">
                <a:solidFill>
                  <a:srgbClr val="D4AF37"/>
                </a:solidFill>
                <a:latin typeface="Calibri"/>
              </a:defRPr>
            </a:pPr>
            <a:r>
              <a:t>Executive Attestation &amp; Verification Data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Official Domicile: 12 Capital Inc., International Business Company (IBC), Laws of Saint Lucia (Cap. 12.14).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Parent Holding: 12 Group Holding (Cláudio, CEO • André, Governance Director).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Executive Leadership: Fayson Santos, Head of Technology &amp; Operations.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Operational Verification: Public web portal live at https://12capital.vercel.app (GitHub: 12capitalbank-cyber/12capital).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Attestation: 12 Capital confirms that all capital derives from lawful commercial origins, operates on 100% STP without market risk, and enforces strict FATF AML/CFT compliance.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• Banking Compliance Liaison: compliance@12capital.com | Saint Lucia Registered Agent &amp; Office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